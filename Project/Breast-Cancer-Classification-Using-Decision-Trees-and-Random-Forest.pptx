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12191675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aleway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2A841A-2596-450E-8461-1259FDB11045}">
  <a:tblStyle styleId="{9A2A841A-2596-450E-8461-1259FDB110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Light-bold.fntdata"/><Relationship Id="rId25" Type="http://schemas.openxmlformats.org/officeDocument/2006/relationships/font" Target="fonts/RalewayLight-regular.fntdata"/><Relationship Id="rId28" Type="http://schemas.openxmlformats.org/officeDocument/2006/relationships/font" Target="fonts/RalewayLight-boldItalic.fntdata"/><Relationship Id="rId27" Type="http://schemas.openxmlformats.org/officeDocument/2006/relationships/font" Target="fonts/Raleway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661475" y="1014611"/>
            <a:ext cx="10868745" cy="1033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50"/>
              <a:buFont typeface="Raleway"/>
              <a:buNone/>
            </a:pPr>
            <a:r>
              <a:rPr b="0" i="0" lang="en-US" sz="3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Breast Cancer Classification Using Decision Trees and Random Forest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61475" y="2378770"/>
            <a:ext cx="11478330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61475" y="2870696"/>
            <a:ext cx="10868745" cy="19050"/>
          </a:xfrm>
          <a:prstGeom prst="roundRect">
            <a:avLst>
              <a:gd fmla="val 49999" name="adj"/>
            </a:avLst>
          </a:prstGeom>
          <a:solidFill>
            <a:srgbClr val="3C393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661475" y="3282355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Team Members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61475" y="3706118"/>
            <a:ext cx="5232666" cy="123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K.V.Koushal - 2520030009</a:t>
            </a:r>
            <a:endParaRPr sz="13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Bhavitha Reddy - 2520030120</a:t>
            </a:r>
            <a:endParaRPr sz="13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303904" y="3282355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Raleway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303904" y="3706118"/>
            <a:ext cx="5232666" cy="9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Faculty / Guide: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Dr</a:t>
            </a: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.Shaik Asif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Department: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198731" y="5388570"/>
            <a:ext cx="10775780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661475" y="803672"/>
            <a:ext cx="963092" cy="251420"/>
          </a:xfrm>
          <a:prstGeom prst="roundRect">
            <a:avLst>
              <a:gd fmla="val 22103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760691" y="853281"/>
            <a:ext cx="1374245" cy="15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NAVIGATION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61475" y="1121172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50"/>
              <a:buFont typeface="Raleway"/>
              <a:buNone/>
            </a:pPr>
            <a:r>
              <a:rPr b="0" i="0" lang="en-US" sz="3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Contents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61475" y="1885950"/>
            <a:ext cx="11478330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structured walkthrough from problem context to experimental results — each section builds toward a complete, reproducible classification study.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61475" y="2336602"/>
            <a:ext cx="330688" cy="206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 Light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61475" y="2598539"/>
            <a:ext cx="5351725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661475" y="2719288"/>
            <a:ext cx="535172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61475" y="3076972"/>
            <a:ext cx="535172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Problem context, motivation, and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178495" y="2336602"/>
            <a:ext cx="330688" cy="206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 Light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178495" y="2598539"/>
            <a:ext cx="5351725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178495" y="2719288"/>
            <a:ext cx="535172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Literature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178495" y="3076972"/>
            <a:ext cx="535172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Eight representative prior studies and their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61475" y="3630910"/>
            <a:ext cx="330688" cy="206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 Light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61475" y="3892848"/>
            <a:ext cx="5351725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61475" y="4013597"/>
            <a:ext cx="535172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Research Gap &amp; 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61475" y="4371280"/>
            <a:ext cx="535172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What is missing and what this project addresses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178495" y="3630910"/>
            <a:ext cx="330688" cy="206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 Light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178495" y="3892848"/>
            <a:ext cx="5351725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178495" y="4013597"/>
            <a:ext cx="535172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Abstract &amp;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178495" y="4371280"/>
            <a:ext cx="535172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Project summary and WDBC dataset overview with 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61475" y="4925219"/>
            <a:ext cx="330688" cy="206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 Light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61475" y="5187156"/>
            <a:ext cx="5351725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61475" y="5307905"/>
            <a:ext cx="535172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61475" y="5665589"/>
            <a:ext cx="535172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Decision Tree, Random Forest, and workflow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178495" y="4925219"/>
            <a:ext cx="330688" cy="206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 Light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178495" y="5187156"/>
            <a:ext cx="5351725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178495" y="5307905"/>
            <a:ext cx="535172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 Evaluation &amp;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178495" y="5665589"/>
            <a:ext cx="535172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Accuracy, ROC-AUC, PR-AUC comparison and 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661475" y="899319"/>
            <a:ext cx="892450" cy="251420"/>
          </a:xfrm>
          <a:prstGeom prst="roundRect">
            <a:avLst>
              <a:gd fmla="val 2210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760691" y="948928"/>
            <a:ext cx="1303603" cy="15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61475" y="1216819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50"/>
              <a:buFont typeface="Raleway"/>
              <a:buNone/>
            </a:pPr>
            <a:r>
              <a:rPr b="0" i="0" lang="en-US" sz="3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61475" y="1981597"/>
            <a:ext cx="10868745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Breast cancer is one of the most prevalent cancers worldwide. Early and accurate classification of tumors — </a:t>
            </a: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benign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(non-cancerous) vs. </a:t>
            </a: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malignant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(cancerous) — is critical to improving patient outcomes. Machine learning offers a data-driven approach to assist clinicians in this classification task at scale and with consistency.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2415" y="2961481"/>
            <a:ext cx="5470785" cy="2997200"/>
          </a:xfrm>
          <a:prstGeom prst="roundRect">
            <a:avLst>
              <a:gd fmla="val 3973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707710" y="3126780"/>
            <a:ext cx="514019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What the Project Classifies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707710" y="3550543"/>
            <a:ext cx="5140196" cy="1174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Input: 30 diagnostic numerical measurements (radius, texture, perimeter, area, smoothness, etc.)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Output: Tumor class —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Benign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Malignant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Dataset: Wisconsin Diagnostic Breast Cancer (WDBC)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303904" y="3126780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Algorithms Used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303904" y="3550543"/>
            <a:ext cx="5232666" cy="851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Decision Tree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interpretable single-tree baseline classifier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ensemble of multiple decision trees for robustness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303904" y="4567535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Evaluation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303904" y="4991298"/>
            <a:ext cx="5232666" cy="9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ROC-AUC (Receiver Operating Characteristic)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PR-AUC (Precision-Recall)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661475" y="618034"/>
            <a:ext cx="725072" cy="204192"/>
          </a:xfrm>
          <a:prstGeom prst="roundRect">
            <a:avLst>
              <a:gd fmla="val 22112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742038" y="658316"/>
            <a:ext cx="1173530" cy="123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61475" y="865882"/>
            <a:ext cx="10868745" cy="419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Literature Review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61475" y="1449487"/>
            <a:ext cx="11478330" cy="194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Eight studies from 2019–2023 were reviewed. A common limitation across prior work is the </a:t>
            </a:r>
            <a:r>
              <a:rPr b="1" i="0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over-reliance on accuracy alone</a:t>
            </a:r>
            <a:r>
              <a:rPr b="0" i="0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and the absence of focused tree-based model analysis.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7"/>
          <p:cNvGraphicFramePr/>
          <p:nvPr/>
        </p:nvGraphicFramePr>
        <p:xfrm>
          <a:off x="661475" y="1767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{9A2A841A-2596-450E-8461-1259FDB11045}</a:tableStyleId>
              </a:tblPr>
              <a:tblGrid>
                <a:gridCol w="2173750"/>
                <a:gridCol w="869500"/>
                <a:gridCol w="4564875"/>
                <a:gridCol w="3260625"/>
              </a:tblGrid>
              <a:tr h="34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Author(s)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Year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Methodology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 Limitation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Sivapriya J.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2019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SVM, Logistic Regression, Naive Bayes, Random Forest on WDBC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Only accuracy reported; no ROC-AUC / PR-AUC or cross-validation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Rane, Sunny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2020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Naive Bayes, Random Forest, ANN, KNN, SVM, Decision Tree on WDBC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Tree-based models not deeply analyzed; no feature importance or ROC-AUC / PR-AUC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Vijaylaxmi Kochari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2021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Linear Regression, Decision Tree, Random Forest on FNA-based data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Limited feature analysis; no ROC-AUC / PR-AUC evaluation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Hamed, Mesleh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2021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Forest, AdaBoost, Logistic Regression, Decision Tree, Naive Bayes, CNN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 ROC-AUC or PR-AUC; no focused RF vs. Decision Tree comparison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344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Gaurav Singh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2020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KNN, SVM, Logistic Regression, Gaussian Naive Bayes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 sample size; Random Forest not explored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Rahman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2022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XGBoost, AdaBoost, Gradient Boosting with hyperparameter tuning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Only boosting algorithms; Decision Tree and Random Forest not included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Sharma, Garg et al.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2023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SVM, Logistic Regression, RF, XGBoost, AdaBoost, KNN, Naive Bayes, ensemble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Too many algorithms without deep analysis of Decision Tree and Random Forest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3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Sarkar, Ghose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2023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Logistic Regression, SVM, Random Forest, Neural Networks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 selection discussed but detailed feature importance and PR-AUC not provided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34375" marL="134375" anchor="ctr">
                    <a:lnL cap="flat" cmpd="sng" w="12700">
                      <a:solidFill>
                        <a:srgbClr val="FEFE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661475" y="694630"/>
            <a:ext cx="892450" cy="251420"/>
          </a:xfrm>
          <a:prstGeom prst="roundRect">
            <a:avLst>
              <a:gd fmla="val 2210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760691" y="744240"/>
            <a:ext cx="1303603" cy="15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61475" y="1012130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50"/>
              <a:buFont typeface="Raleway"/>
              <a:buNone/>
            </a:pPr>
            <a:r>
              <a:rPr b="0" i="0" lang="en-US" sz="3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Research Gap &amp; Problem Statement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61475" y="1942207"/>
            <a:ext cx="5007147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Prior Studies Missed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386707"/>
            <a:ext cx="2420877" cy="142716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922017" y="2571055"/>
            <a:ext cx="1975991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Heavy focus on </a:t>
            </a: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accuracy alone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ROC-AUC and PR-AUC rarely reported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7646" y="2386707"/>
            <a:ext cx="2420976" cy="142716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3508188" y="2571055"/>
            <a:ext cx="1976090" cy="1058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Many algorithms compared </a:t>
            </a: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without focused analysis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of any single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979168"/>
            <a:ext cx="2420877" cy="142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922017" y="4163516"/>
            <a:ext cx="1975991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Feature importance and interpretability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often overlooked in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7646" y="3979168"/>
            <a:ext cx="2420976" cy="142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3508188" y="4163516"/>
            <a:ext cx="1976090" cy="1058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Boosting methods and neural networks </a:t>
            </a: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overshadow simpler tree-based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959326" y="1776909"/>
            <a:ext cx="5696204" cy="4386461"/>
          </a:xfrm>
          <a:prstGeom prst="roundRect">
            <a:avLst>
              <a:gd fmla="val 2715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6124620" y="1942207"/>
            <a:ext cx="536561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Our Research Gap — What This Project Addresses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124620" y="2365970"/>
            <a:ext cx="5365616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focused, in-depth comparison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of Decision Tree and Random Forest on the WDBC dataset, evaluated using three complementary metrics: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124620" y="3044031"/>
            <a:ext cx="5365616" cy="9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Accuracy — overall correctness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ROC-AUC — class separability across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PR-AUC — performance on malignant (positive)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124620" y="4102398"/>
            <a:ext cx="5365616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Additionally,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feature importance analysis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is performed to identify which diagnostic measurements contribute most to classification.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124620" y="4796929"/>
            <a:ext cx="536561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Objective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124620" y="5220692"/>
            <a:ext cx="5365616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 build and compare Decision Tree and Random Forest models for classifying breast tumors as benign or malignant, with rigorous multi-metric evaluation.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661475" y="1288752"/>
            <a:ext cx="892450" cy="251420"/>
          </a:xfrm>
          <a:prstGeom prst="roundRect">
            <a:avLst>
              <a:gd fmla="val 2210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760691" y="1338362"/>
            <a:ext cx="1303603" cy="15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61475" y="1606252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50"/>
              <a:buFont typeface="Raleway"/>
              <a:buNone/>
            </a:pPr>
            <a:r>
              <a:rPr b="0" i="0" lang="en-US" sz="3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Abstract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661475" y="2371030"/>
            <a:ext cx="11478330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concise summary of the project scope, approach, and evaluation strategy.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661475" y="2821682"/>
            <a:ext cx="372061" cy="372070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723485" y="2852688"/>
            <a:ext cx="248041" cy="310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198830" y="2878534"/>
            <a:ext cx="479363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1198830" y="3236218"/>
            <a:ext cx="479363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Wisconsin Diagnostic Breast Cancer (WDBC) dataset is used — 569 samples with 30 numerical features derived from digitized Fine Needle Aspiration (FNA) images of cell nuclei.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199132" y="2821682"/>
            <a:ext cx="372061" cy="372070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6261142" y="2852688"/>
            <a:ext cx="248041" cy="310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736487" y="2878534"/>
            <a:ext cx="4793733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Exploratory Data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736487" y="3236218"/>
            <a:ext cx="4793733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EDA is performed to understand data structure, class distribution, feature distributions, outliers, and inter-feature correlations before model training.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61475" y="4360763"/>
            <a:ext cx="372061" cy="372070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723485" y="4391769"/>
            <a:ext cx="248041" cy="310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198830" y="4417616"/>
            <a:ext cx="479363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198830" y="4775299"/>
            <a:ext cx="479363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Decision Tree serves as an interpretable baseline. Random Forest — an ensemble of multiple trees — is evaluated as the more robust alternative. Both are supervised learning classifiers.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6199132" y="4360763"/>
            <a:ext cx="372061" cy="372070"/>
          </a:xfrm>
          <a:prstGeom prst="roundRect">
            <a:avLst>
              <a:gd fmla="val 18670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6261142" y="4391769"/>
            <a:ext cx="248041" cy="310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736487" y="4417616"/>
            <a:ext cx="4793733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736487" y="4775299"/>
            <a:ext cx="4793733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Models are compared on Accuracy, ROC-AUC and PR-AUC. Feature importance is analyzed to identify the most influential diagnostic measurements in predicting malignancy.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/>
        </p:nvSpPr>
        <p:spPr>
          <a:xfrm>
            <a:off x="661475" y="502841"/>
            <a:ext cx="766644" cy="215801"/>
          </a:xfrm>
          <a:prstGeom prst="roundRect">
            <a:avLst>
              <a:gd fmla="val 22130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746702" y="545405"/>
            <a:ext cx="1205775" cy="130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61475" y="767457"/>
            <a:ext cx="10868745" cy="444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&amp; Exploratory Data Analysis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61475" y="1516856"/>
            <a:ext cx="3915173" cy="22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0"/>
          <p:cNvGraphicFramePr/>
          <p:nvPr/>
        </p:nvGraphicFramePr>
        <p:xfrm>
          <a:off x="661475" y="18762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{9A2A841A-2596-450E-8461-1259FDB11045}</a:tableStyleId>
              </a:tblPr>
              <a:tblGrid>
                <a:gridCol w="1957575"/>
                <a:gridCol w="1957575"/>
              </a:tblGrid>
              <a:tr h="37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Property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Value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8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 Name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Wisconsin Diagnostic Breast Cancer (WDBC)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37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Samples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569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37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Original Columns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8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 Features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 diagnostic numerical features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58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Variable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100"/>
                        <a:buFont typeface="Roboto"/>
                        <a:buNone/>
                      </a:pPr>
                      <a:r>
                        <a:rPr lang="en-US" sz="11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Diagnosis: B = Benign, M = Malignant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42125" marL="142125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10"/>
          <p:cNvSpPr/>
          <p:nvPr/>
        </p:nvSpPr>
        <p:spPr>
          <a:xfrm>
            <a:off x="661475" y="4915793"/>
            <a:ext cx="3915173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1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Visualizations to be added after training: missing-value heatmap, histograms, box plots, class distribution plot, correlation heatmap.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4929659" y="1516856"/>
            <a:ext cx="6606811" cy="22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EDA Steps — Performed in Order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4929659" y="1876227"/>
            <a:ext cx="284255" cy="177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 Light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929659" y="2098675"/>
            <a:ext cx="6606811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929659" y="2207816"/>
            <a:ext cx="6606811" cy="22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Load &amp; Inspect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929659" y="2552005"/>
            <a:ext cx="6606811" cy="2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Examine first 5 rows, dataset shape, column names, and data 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929659" y="2992140"/>
            <a:ext cx="284255" cy="177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 Light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929659" y="3214588"/>
            <a:ext cx="6606811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4929659" y="3323729"/>
            <a:ext cx="6606811" cy="22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Quality Check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929659" y="3667919"/>
            <a:ext cx="6606811" cy="2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 missing values, check for duplicate records, verify data integrity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929659" y="4108053"/>
            <a:ext cx="284255" cy="177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 Light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929659" y="4330502"/>
            <a:ext cx="6606811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4929659" y="4439642"/>
            <a:ext cx="6606811" cy="22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Statistical Summary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929659" y="4783832"/>
            <a:ext cx="6606811" cy="2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Generate mean, std, min, and max for all 30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929659" y="5223966"/>
            <a:ext cx="284255" cy="177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aleway Light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929659" y="5446415"/>
            <a:ext cx="6606811" cy="1905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4929659" y="5555555"/>
            <a:ext cx="6606811" cy="222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Visual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929659" y="5899745"/>
            <a:ext cx="6606811" cy="2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Histograms for distributions, box plots for outliers, class distribution plot, correlation heatmap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661475" y="482997"/>
            <a:ext cx="850879" cy="239415"/>
          </a:xfrm>
          <a:prstGeom prst="roundRect">
            <a:avLst>
              <a:gd fmla="val 2212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756028" y="530225"/>
            <a:ext cx="1271357" cy="1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61475" y="782439"/>
            <a:ext cx="10868745" cy="4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100"/>
              <a:buFont typeface="Raleway"/>
              <a:buNone/>
            </a:pPr>
            <a:r>
              <a:rPr b="0" i="0" lang="en-US" sz="3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61475" y="1650603"/>
            <a:ext cx="4116681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Workflow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065834"/>
            <a:ext cx="4116681" cy="177819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1643835" y="3365992"/>
            <a:ext cx="611246" cy="1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Preprocessing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643835" y="3508989"/>
            <a:ext cx="611246" cy="173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Load data and clean features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3213356" y="3365992"/>
            <a:ext cx="611246" cy="1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Train-Test Split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3213356" y="3508989"/>
            <a:ext cx="611246" cy="173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Hold out data for evaluation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61023" y="2226287"/>
            <a:ext cx="611246" cy="2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WDBC Dataset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861023" y="2480613"/>
            <a:ext cx="611246" cy="173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Breast cancer diagnostic data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3972852" y="2226287"/>
            <a:ext cx="611245" cy="111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972852" y="2369283"/>
            <a:ext cx="611245" cy="173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Decision Tree and Random Forest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2438337" y="2226287"/>
            <a:ext cx="611246" cy="2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Exploratory Analysis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2438337" y="2480613"/>
            <a:ext cx="611246" cy="26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Summarize patterns and distributions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5169068" y="1650603"/>
            <a:ext cx="636740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Decision Tree — Baseline Model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0019" y="2046784"/>
            <a:ext cx="3108843" cy="102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/>
          <p:nvPr/>
        </p:nvSpPr>
        <p:spPr>
          <a:xfrm>
            <a:off x="5364723" y="2065834"/>
            <a:ext cx="2894139" cy="985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single tree that makes decisions by applying conditions on input features at each node, splitting data until a class label is assigned at the leaf.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7529" y="2046784"/>
            <a:ext cx="3108942" cy="102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8642233" y="2065834"/>
            <a:ext cx="2894238" cy="738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Advantage: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Easy to understand, visualize, and explain to non-technical stakeholders.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0019" y="3332262"/>
            <a:ext cx="6386452" cy="53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/>
          <p:nvPr/>
        </p:nvSpPr>
        <p:spPr>
          <a:xfrm>
            <a:off x="5364723" y="3351312"/>
            <a:ext cx="6171748" cy="4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Limitation: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Prone to overfitting if tree depth is not controlled — sensitive to small variations in training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169068" y="4012803"/>
            <a:ext cx="636740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Random Forest — Ensemble Model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0019" y="4408984"/>
            <a:ext cx="3108843" cy="102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5364723" y="4428034"/>
            <a:ext cx="2894139" cy="985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 ensemble of multiple decision trees, each trained on a different random subset of data and features (bagging + feature randomness).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7529" y="4408984"/>
            <a:ext cx="3108942" cy="102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8642233" y="4428034"/>
            <a:ext cx="2894238" cy="4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Final prediction is determined by </a:t>
            </a:r>
            <a:r>
              <a:rPr b="1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majority voting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across all trees in the forest.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0019" y="5694462"/>
            <a:ext cx="6386452" cy="53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5364723" y="5713512"/>
            <a:ext cx="6171748" cy="4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Advantage:</a:t>
            </a: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More robust, reduces overfitting, and generalizes better than a single decision tree.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661475" y="577453"/>
            <a:ext cx="892450" cy="251420"/>
          </a:xfrm>
          <a:prstGeom prst="roundRect">
            <a:avLst>
              <a:gd fmla="val 2210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760691" y="627063"/>
            <a:ext cx="1303603" cy="15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61475" y="894953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50"/>
              <a:buFont typeface="Raleway"/>
              <a:buNone/>
            </a:pPr>
            <a:r>
              <a:rPr b="0" i="0" lang="en-US" sz="32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Model Evaluation Metrics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61475" y="1659731"/>
            <a:ext cx="10868745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Three complementary metrics are used to evaluate and compare model performance. Using multiple metrics gives a more complete and honest picture than accuracy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661475" y="2374999"/>
            <a:ext cx="3512653" cy="3058220"/>
          </a:xfrm>
          <a:prstGeom prst="roundRect">
            <a:avLst>
              <a:gd fmla="val 2271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845819" y="2559348"/>
            <a:ext cx="314396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Accuracy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845819" y="2917031"/>
            <a:ext cx="314396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Formula: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(TP + TN) / Total Samples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845819" y="3280866"/>
            <a:ext cx="3143965" cy="1438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Percentage of all predictions that are correct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Simple and intuitive to interpret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Can be misleading when classes are imbalanced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339422" y="2374999"/>
            <a:ext cx="3512752" cy="3058220"/>
          </a:xfrm>
          <a:prstGeom prst="roundRect">
            <a:avLst>
              <a:gd fmla="val 2271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523766" y="2559348"/>
            <a:ext cx="314406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ROC-AUC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523766" y="2917031"/>
            <a:ext cx="3144064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Receiver Operating Characteristic — Area Under Curve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523766" y="3545483"/>
            <a:ext cx="3144064" cy="170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Plots True Positive Rate vs. False Positive Rate across all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AUC ranges from 0 to 1; higher = better class separation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Useful for evaluating performance on imbalanced 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8017468" y="2374999"/>
            <a:ext cx="3512653" cy="3058220"/>
          </a:xfrm>
          <a:prstGeom prst="roundRect">
            <a:avLst>
              <a:gd fmla="val 2271" name="adj"/>
            </a:avLst>
          </a:prstGeom>
          <a:solidFill>
            <a:srgbClr val="FFFFFF">
              <a:alpha val="94902"/>
            </a:srgbClr>
          </a:solidFill>
          <a:ln cap="flat" cmpd="sng" w="19050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8201812" y="2559348"/>
            <a:ext cx="3143965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aleway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PR-AUC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8201812" y="2917031"/>
            <a:ext cx="3143965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Precision-Recall — Area Under Curve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8201812" y="3280866"/>
            <a:ext cx="3143965" cy="1761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Precision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= TP / (TP + FP)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Recall</a:t>
            </a: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= TP / (TP + FN)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Particularly informative for the </a:t>
            </a:r>
            <a:r>
              <a:rPr b="1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malignant (positive)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Best metric when false negatives are costly (missed cancer)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198731" y="5825827"/>
            <a:ext cx="10775780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661475" y="558502"/>
            <a:ext cx="850879" cy="239415"/>
          </a:xfrm>
          <a:prstGeom prst="roundRect">
            <a:avLst>
              <a:gd fmla="val 2212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756028" y="605730"/>
            <a:ext cx="1271357" cy="1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61475" y="857945"/>
            <a:ext cx="10868745" cy="4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100"/>
              <a:buFont typeface="Raleway"/>
              <a:buNone/>
            </a:pPr>
            <a:r>
              <a:rPr b="0" i="0" lang="en-US" sz="3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Results &amp; Comparison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61475" y="1575891"/>
            <a:ext cx="10868745" cy="4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 performance is compared across all three evaluation metrics below. Results are to be populated after model training and evaluation on the held-out test 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13"/>
          <p:cNvGraphicFramePr/>
          <p:nvPr/>
        </p:nvGraphicFramePr>
        <p:xfrm>
          <a:off x="661475" y="22373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{9A2A841A-2596-450E-8461-1259FDB11045}</a:tableStyleId>
              </a:tblPr>
              <a:tblGrid>
                <a:gridCol w="3695375"/>
                <a:gridCol w="3586675"/>
                <a:gridCol w="3586675"/>
              </a:tblGrid>
              <a:tr h="4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Metric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Decision Tree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Forest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B27"/>
                    </a:solidFill>
                  </a:tcPr>
                </a:tc>
              </a:tr>
              <a:tr h="4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[ADD RESULT]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[ADD RESULT]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4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ROC-AUC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[ADD RESULT]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[ADD RESULT]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  <a:tr h="4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PR-AUC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[ADD RESULT]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939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[ADD RESULT]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13"/>
          <p:cNvSpPr/>
          <p:nvPr/>
        </p:nvSpPr>
        <p:spPr>
          <a:xfrm>
            <a:off x="661475" y="4194671"/>
            <a:ext cx="1147833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1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Results to be added after model training and evaluation.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61475" y="4760119"/>
            <a:ext cx="524209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Visualizations to Be Added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61475" y="5156597"/>
            <a:ext cx="5242092" cy="843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050">
            <a:noAutofit/>
          </a:bodyPr>
          <a:lstStyle/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ROC Curves — Decision Tree vs. Random Forest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Precision-Recall Curves — both models overlaid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Feature Importance plot — top 10 features by contribution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294478" y="4760119"/>
            <a:ext cx="524209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Interpretation Guidance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294478" y="5156597"/>
            <a:ext cx="5242092" cy="1090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050">
            <a:noAutofit/>
          </a:bodyPr>
          <a:lstStyle/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Compare all three metrics together — do not rely on accuracy alone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model with higher ROC-AUC and PR-AUC is preferred for medical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Feature importance identifies which measurements matter most clinically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/>
          <p:nvPr/>
        </p:nvSpPr>
        <p:spPr>
          <a:xfrm>
            <a:off x="661475" y="478631"/>
            <a:ext cx="850879" cy="239415"/>
          </a:xfrm>
          <a:prstGeom prst="roundRect">
            <a:avLst>
              <a:gd fmla="val 2212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756028" y="525859"/>
            <a:ext cx="1271357" cy="1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CHAPTER 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61475" y="778073"/>
            <a:ext cx="10868745" cy="4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100"/>
              <a:buFont typeface="Raleway"/>
              <a:buNone/>
            </a:pPr>
            <a:r>
              <a:rPr b="0" i="0" lang="en-US" sz="3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661475" y="1496020"/>
            <a:ext cx="10868745" cy="4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project presents a focused, reproducible comparison of two tree-based supervised learning approaches — Decision Tree and Random Forest — for the task of breast tumor classification using the WDBC dataset.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661475" y="2157512"/>
            <a:ext cx="3522773" cy="1649214"/>
          </a:xfrm>
          <a:prstGeom prst="roundRect">
            <a:avLst>
              <a:gd fmla="val 401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825380" y="2321421"/>
            <a:ext cx="319496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What Was Built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825380" y="2657773"/>
            <a:ext cx="3194962" cy="985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 end-to-end ML pipeline covering data loading, EDA, preprocessing, model training, and evaluation for binary tumor classification.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4334461" y="2157512"/>
            <a:ext cx="3522773" cy="1649214"/>
          </a:xfrm>
          <a:prstGeom prst="roundRect">
            <a:avLst>
              <a:gd fmla="val 401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4498366" y="2321421"/>
            <a:ext cx="319496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What Was Measured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498366" y="2657773"/>
            <a:ext cx="3194962" cy="738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Three metrics — Accuracy, ROC-AUC, and PR-AUC — to provide a complete and honest assessment of each model's performance.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8007447" y="2157512"/>
            <a:ext cx="3522773" cy="1649214"/>
          </a:xfrm>
          <a:prstGeom prst="roundRect">
            <a:avLst>
              <a:gd fmla="val 401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8171353" y="2321421"/>
            <a:ext cx="3194962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What Was Analyzed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8171353" y="2657773"/>
            <a:ext cx="3194962" cy="738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Feature importance to identify which diagnostic cell-nucleus measurements are most predictive of malignancy.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61475" y="4125913"/>
            <a:ext cx="5804747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Takeaways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61475" y="4522391"/>
            <a:ext cx="5804747" cy="138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050">
            <a:noAutofit/>
          </a:bodyPr>
          <a:lstStyle/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Multi-metric evaluation gives a more complete picture than accuracy alone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Decision Tree provides interpretable, explainable decisions — important in clinical settings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Random Forest reduces overfitting through ensemble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Char char="•"/>
            </a:pPr>
            <a:r>
              <a:rPr b="0" i="0" lang="en-US" sz="12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Feature importance reveals which measurements drive classification most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857134" y="4125913"/>
            <a:ext cx="4679337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50"/>
              <a:buFont typeface="Raleway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7093566" y="4676279"/>
            <a:ext cx="4442904" cy="738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56682" y="6133009"/>
            <a:ext cx="1147833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oboto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